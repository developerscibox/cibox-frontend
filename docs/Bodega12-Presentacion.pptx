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Madurez</c:v>
                </c:pt>
              </c:strCache>
            </c:strRef>
          </c:tx>
          <c:spPr>
            <a:solidFill>
              <a:srgbClr val="E6007E"/>
            </a:solidFill>
          </c:spPr>
          <c:cat>
            <c:strRef>
              <c:f>Sheet1!$A$2:$A$7</c:f>
              <c:strCache>
                <c:ptCount val="6"/>
                <c:pt idx="0">
                  <c:v>Inventario / Kardex</c:v>
                </c:pt>
                <c:pt idx="1">
                  <c:v>Estados de pedido</c:v>
                </c:pt>
                <c:pt idx="2">
                  <c:v>Seguimiento cliente</c:v>
                </c:pt>
                <c:pt idx="3">
                  <c:v>Fulfillment / Picking</c:v>
                </c:pt>
                <c:pt idx="4">
                  <c:v>Roles / Seguridad</c:v>
                </c:pt>
                <c:pt idx="5">
                  <c:v>Recepción / Inbound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85</c:v>
                </c:pt>
                <c:pt idx="2">
                  <c:v>75</c:v>
                </c:pt>
                <c:pt idx="3">
                  <c:v>45</c:v>
                </c:pt>
                <c:pt idx="4">
                  <c:v>80</c:v>
                </c:pt>
                <c:pt idx="5">
                  <c:v>10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A10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A102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Unidades</c:v>
                </c:pt>
              </c:strCache>
            </c:strRef>
          </c:tx>
          <c:spPr>
            <a:solidFill>
              <a:srgbClr val="E6007E"/>
            </a:solidFill>
          </c:spPr>
          <c:cat>
            <c:strRef>
              <c:f>Sheet1!$A$2:$A$7</c:f>
              <c:strCache>
                <c:ptCount val="6"/>
                <c:pt idx="0">
                  <c:v>Abarrotes</c:v>
                </c:pt>
                <c:pt idx="1">
                  <c:v>Galletas</c:v>
                </c:pt>
                <c:pt idx="2">
                  <c:v>Lácteos</c:v>
                </c:pt>
                <c:pt idx="3">
                  <c:v>Bebidas</c:v>
                </c:pt>
                <c:pt idx="4">
                  <c:v>Papeles</c:v>
                </c:pt>
                <c:pt idx="5">
                  <c:v>Conservas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2780</c:v>
                </c:pt>
                <c:pt idx="1">
                  <c:v>1520</c:v>
                </c:pt>
                <c:pt idx="2">
                  <c:v>1420</c:v>
                </c:pt>
                <c:pt idx="3">
                  <c:v>1280</c:v>
                </c:pt>
                <c:pt idx="4">
                  <c:v>480</c:v>
                </c:pt>
                <c:pt idx="5">
                  <c:v>480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A102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A1022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93268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 i="0">
                <a:solidFill>
                  <a:srgbClr val="FF3DA6"/>
                </a:solidFill>
                <a:latin typeface="Trebuchet MS"/>
              </a:rPr>
              <a:t>BODEGA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De tienda funcional a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operación profesional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0" i="0">
                <a:solidFill>
                  <a:srgbClr val="FF3DA6"/>
                </a:solidFill>
                <a:latin typeface="Calibri"/>
              </a:rPr>
              <a:t>Auditoría · Roles y permisos · Flujo por estaciones ·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00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Junio 2026 · Lo Espejo, Santiago · Supermercado mayorista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Tres aplicaciones, una sola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Foco: el gerente ve cada pedido en vivo y el cliente sabe cómo va el suyo.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29584" cy="3749039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8895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A1022"/>
                </a:solidFill>
                <a:latin typeface="Trebuchet MS"/>
              </a:rPr>
              <a:t>Tienda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6007E"/>
                </a:solidFill>
                <a:latin typeface="Trebuchet MS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8895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6E80"/>
                </a:solidFill>
                <a:latin typeface="Calibri"/>
              </a:rPr>
              <a:t>E-commerce mayorista. Venta SOLO por caja, con retiro en bodega. (Expo / React Native · web)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920240"/>
            <a:ext cx="3529584" cy="3749039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2583" y="2286000"/>
            <a:ext cx="640080" cy="6400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3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3246120"/>
            <a:ext cx="28895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A1022"/>
                </a:solidFill>
                <a:latin typeface="Trebuchet MS"/>
              </a:rPr>
              <a:t>Panel de Bodega (WMS)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3794760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6007E"/>
                </a:solidFill>
                <a:latin typeface="Trebuchet MS"/>
              </a:rPr>
              <a:t>EQUIPO INTERNO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4206240"/>
            <a:ext cx="28895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6E80"/>
                </a:solidFill>
                <a:latin typeface="Calibri"/>
              </a:rPr>
              <a:t>Pedidos, picking por escaneo, inventario y ajustes. Acceso por rol. (Vite / React)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920240"/>
            <a:ext cx="3529584" cy="3749039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76488" y="2286000"/>
            <a:ext cx="640080" cy="6400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246120"/>
            <a:ext cx="28895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A1022"/>
                </a:solidFill>
                <a:latin typeface="Trebuchet MS"/>
              </a:rPr>
              <a:t>Backend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794760"/>
            <a:ext cx="2889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6007E"/>
                </a:solidFill>
                <a:latin typeface="Trebuchet MS"/>
              </a:rPr>
              <a:t>NÚCLEO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4206240"/>
            <a:ext cx="28895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6E80"/>
                </a:solidFill>
                <a:latin typeface="Calibri"/>
              </a:rPr>
              <a:t>Lógica, pagos, kardex inmutable y seguridad. (Express + MongoDB)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Diagnóstico: madurez por dominio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Auditoría sobre 104 puntos de control en 6 dominios del sistema real.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73152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737360"/>
            <a:ext cx="3474720" cy="118872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737360"/>
            <a:ext cx="109728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9385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16A34A"/>
                </a:solidFill>
                <a:latin typeface="Trebuchet MS"/>
              </a:rPr>
              <a:t>SÓLIDO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0768" y="234086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A1022"/>
                </a:solidFill>
                <a:latin typeface="Calibri"/>
              </a:rPr>
              <a:t>Inventario · Estados · Seguimiento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154680"/>
            <a:ext cx="3474720" cy="118872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3154680"/>
            <a:ext cx="109728" cy="1188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33558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PARCIAL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375818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A1022"/>
                </a:solidFill>
                <a:latin typeface="Calibri"/>
              </a:rPr>
              <a:t>Fulfillment / Picking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572000"/>
            <a:ext cx="3474720" cy="118872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572000"/>
            <a:ext cx="109728" cy="1188720"/>
          </a:xfrm>
          <a:prstGeom prst="rect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7731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D92D20"/>
                </a:solidFill>
                <a:latin typeface="Trebuchet MS"/>
              </a:rPr>
              <a:t>INEXISTENTE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517550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A1022"/>
                </a:solidFill>
                <a:latin typeface="Calibri"/>
              </a:rPr>
              <a:t>Recepción / Inbound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Los 3 problemas raíz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Lo que impedía operar a nivel profesional.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0253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A1022"/>
                </a:solidFill>
                <a:latin typeface="Trebuchet MS"/>
              </a:rPr>
              <a:t>WMS sin identidad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59736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6E80"/>
                </a:solidFill>
                <a:latin typeface="Calibri"/>
              </a:rPr>
              <a:t>El panel entraba con un único token admin: todos operaban como la misma persona, sin saber quién hizo 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1064240" cy="128016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6557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A1022"/>
                </a:solidFill>
                <a:latin typeface="Trebuchet MS"/>
              </a:rPr>
              <a:t>Roles demasiado gruesos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22776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6E80"/>
                </a:solidFill>
                <a:latin typeface="Calibri"/>
              </a:rPr>
              <a:t>Solo 3 roles (cliente/vendedor/admin), sin permisos finos ni mínimo privilegio.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28616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A1022"/>
                </a:solidFill>
                <a:latin typeface="Trebuchet MS"/>
              </a:rPr>
              <a:t>Sin recepción profesional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85816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8A6E80"/>
                </a:solidFill>
                <a:latin typeface="Calibri"/>
              </a:rPr>
              <a:t>No existe ingreso formal de mercadería (proveedor, orden de compra, lote, vencimiento, costo).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Quién usa la aplicación — acceso por 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Modelo simplificado (decisión del CEO). Principio: cada quien ve y hace solo lo suyo.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3383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/>
                <a:gridCol w="4297680"/>
                <a:gridCol w="3566160"/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Rol</a:t>
                      </a:r>
                    </a:p>
                  </a:txBody>
                  <a:tcPr marL="109728" marR="91440" marT="54864" marB="54864" anchor="ctr"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Puede</a:t>
                      </a:r>
                    </a:p>
                  </a:txBody>
                  <a:tcPr marL="109728" marR="91440" marT="54864" marB="54864" anchor="ctr"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rebuchet MS"/>
                        </a:rPr>
                        <a:t>No puede</a:t>
                      </a:r>
                    </a:p>
                  </a:txBody>
                  <a:tcPr marL="109728" marR="91440" marT="54864" marB="54864" anchor="ctr">
                    <a:solidFill>
                      <a:srgbClr val="E6007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A1022"/>
                          </a:solidFill>
                          <a:latin typeface="Calibri"/>
                        </a:rPr>
                        <a:t>Administrador (dueño)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Todo + gestión de usuarios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A1022"/>
                          </a:solidFill>
                          <a:latin typeface="Calibri"/>
                        </a:rPr>
                        <a:t>Gerente de bodega</a:t>
                      </a:r>
                    </a:p>
                  </a:txBody>
                  <a:tcPr marL="109728" marR="91440" marT="54864" marB="54864" anchor="ctr"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Ver cada pedido en vivo, aprobar, reportes</a:t>
                      </a:r>
                    </a:p>
                  </a:txBody>
                  <a:tcPr marL="109728" marR="91440" marT="54864" marB="54864" anchor="ctr"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Picking diario, crear usuarios base</a:t>
                      </a:r>
                    </a:p>
                  </a:txBody>
                  <a:tcPr marL="109728" marR="91440" marT="54864" marB="54864" anchor="ctr">
                    <a:solidFill>
                      <a:srgbClr val="F7EEF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A1022"/>
                          </a:solidFill>
                          <a:latin typeface="Calibri"/>
                        </a:rPr>
                        <a:t>Operario / Pickeador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Recepción, picking, ajustes de stock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Entregar, cancelar, ver reportes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A1022"/>
                          </a:solidFill>
                          <a:latin typeface="Calibri"/>
                        </a:rPr>
                        <a:t>Cajero / Punto de retiro</a:t>
                      </a:r>
                    </a:p>
                  </a:txBody>
                  <a:tcPr marL="109728" marR="91440" marT="54864" marB="54864" anchor="ctr"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Validar código y entregar (ready→delivered)</a:t>
                      </a:r>
                    </a:p>
                  </a:txBody>
                  <a:tcPr marL="109728" marR="91440" marT="54864" marB="54864" anchor="ctr">
                    <a:solidFill>
                      <a:srgbClr val="F7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A1022"/>
                          </a:solidFill>
                          <a:latin typeface="Calibri"/>
                        </a:rPr>
                        <a:t>Preparar, ajustar stock, cancelar</a:t>
                      </a:r>
                    </a:p>
                  </a:txBody>
                  <a:tcPr marL="109728" marR="91440" marT="54864" marB="54864" anchor="ctr">
                    <a:solidFill>
                      <a:srgbClr val="F7EE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1">
                <a:solidFill>
                  <a:srgbClr val="8A6E80"/>
                </a:solidFill>
                <a:latin typeface="Calibri"/>
              </a:rPr>
              <a:t>+ Vendedor B2B y Cliente final operan fuera del WMS. Verificado: 7/7 pruebas de permisos en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Flujo del pedido — 5 estaciones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Cada estación la realiza un rol distinto; el cliente ve su propia versión.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084831" cy="169164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945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1" i="0">
                <a:solidFill>
                  <a:srgbClr val="2A1022"/>
                </a:solidFill>
                <a:latin typeface="Trebuchet MS"/>
              </a:rPr>
              <a:t>1 · Pago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24912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6007E"/>
                </a:solidFill>
                <a:latin typeface="Trebuchet MS"/>
              </a:rPr>
              <a:t>Rol: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80944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Sistema (Webpay)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2084831" cy="566928"/>
          </a:xfrm>
          <a:prstGeom prst="roundRect">
            <a:avLst>
              <a:gd name="adj" fmla="val 9000"/>
            </a:avLst>
          </a:prstGeom>
          <a:solidFill>
            <a:srgbClr val="FCE7F3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90195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 i="0">
                <a:solidFill>
                  <a:srgbClr val="B5006A"/>
                </a:solidFill>
                <a:latin typeface="Calibri"/>
              </a:rPr>
              <a:t>Pago confirmado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514600"/>
            <a:ext cx="228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2011680"/>
            <a:ext cx="2084831" cy="169164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21945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1" i="0">
                <a:solidFill>
                  <a:srgbClr val="2A1022"/>
                </a:solidFill>
                <a:latin typeface="Trebuchet MS"/>
              </a:rPr>
              <a:t>2 · Preparación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724912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6007E"/>
                </a:solidFill>
                <a:latin typeface="Trebuchet MS"/>
              </a:rPr>
              <a:t>Rol: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980944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Operario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5496" y="3977639"/>
            <a:ext cx="2084831" cy="566928"/>
          </a:xfrm>
          <a:prstGeom prst="roundRect">
            <a:avLst>
              <a:gd name="adj" fmla="val 9000"/>
            </a:avLst>
          </a:prstGeom>
          <a:solidFill>
            <a:srgbClr val="FCE7F3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6936" y="3977639"/>
            <a:ext cx="190195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 i="0">
                <a:solidFill>
                  <a:srgbClr val="B5006A"/>
                </a:solidFill>
                <a:latin typeface="Calibri"/>
              </a:rPr>
              <a:t>En preparación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514600"/>
            <a:ext cx="228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1" y="2011680"/>
            <a:ext cx="2084831" cy="169164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3" y="21945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1" i="0">
                <a:solidFill>
                  <a:srgbClr val="2A1022"/>
                </a:solidFill>
                <a:latin typeface="Trebuchet MS"/>
              </a:rPr>
              <a:t>3 · Empacado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3" y="2724912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6007E"/>
                </a:solidFill>
                <a:latin typeface="Trebuchet MS"/>
              </a:rPr>
              <a:t>Rol: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3" y="2980944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Operario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2351" y="3977639"/>
            <a:ext cx="2084831" cy="566928"/>
          </a:xfrm>
          <a:prstGeom prst="roundRect">
            <a:avLst>
              <a:gd name="adj" fmla="val 9000"/>
            </a:avLst>
          </a:prstGeom>
          <a:solidFill>
            <a:srgbClr val="FCE7F3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1" y="3977639"/>
            <a:ext cx="190195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 i="0">
                <a:solidFill>
                  <a:srgbClr val="B5006A"/>
                </a:solidFill>
                <a:latin typeface="Calibri"/>
              </a:rPr>
              <a:t>En preparación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514600"/>
            <a:ext cx="228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9207" y="2011680"/>
            <a:ext cx="2084831" cy="169164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799" y="21945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1" i="0">
                <a:solidFill>
                  <a:srgbClr val="2A1022"/>
                </a:solidFill>
                <a:latin typeface="Trebuchet MS"/>
              </a:rPr>
              <a:t>4 · Listo retiro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2724912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6007E"/>
                </a:solidFill>
                <a:latin typeface="Trebuchet MS"/>
              </a:rPr>
              <a:t>Rol: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799" y="2980944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Operario + aviso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9207" y="3977639"/>
            <a:ext cx="2084831" cy="566928"/>
          </a:xfrm>
          <a:prstGeom prst="roundRect">
            <a:avLst>
              <a:gd name="adj" fmla="val 9000"/>
            </a:avLst>
          </a:prstGeom>
          <a:solidFill>
            <a:srgbClr val="FCE7F3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7" y="3977639"/>
            <a:ext cx="190195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 i="0">
                <a:solidFill>
                  <a:srgbClr val="B5006A"/>
                </a:solidFill>
                <a:latin typeface="Calibri"/>
              </a:rPr>
              <a:t>¡Listo para retiro!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1" y="2514600"/>
            <a:ext cx="228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56063" y="2011680"/>
            <a:ext cx="2084831" cy="169164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0655" y="219456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1" i="0">
                <a:solidFill>
                  <a:srgbClr val="2A1022"/>
                </a:solidFill>
                <a:latin typeface="Trebuchet MS"/>
              </a:rPr>
              <a:t>5 · Entrega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5" y="2724912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E6007E"/>
                </a:solidFill>
                <a:latin typeface="Trebuchet MS"/>
              </a:rPr>
              <a:t>Rol: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5" y="2980944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Cajero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56063" y="3977639"/>
            <a:ext cx="2084831" cy="566928"/>
          </a:xfrm>
          <a:prstGeom prst="roundRect">
            <a:avLst>
              <a:gd name="adj" fmla="val 9000"/>
            </a:avLst>
          </a:prstGeom>
          <a:solidFill>
            <a:srgbClr val="FCE7F3"/>
          </a:solidFill>
          <a:ln w="1270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47503" y="3977639"/>
            <a:ext cx="190195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200" b="1" i="0">
                <a:solidFill>
                  <a:srgbClr val="B5006A"/>
                </a:solidFill>
                <a:latin typeface="Calibri"/>
              </a:rPr>
              <a:t>Entregado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8A6E80"/>
                </a:solidFill>
                <a:latin typeface="Trebuchet MS"/>
              </a:rPr>
              <a:t>Operación interna ▾        Lo que ve el cliente 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6E80"/>
                </a:solidFill>
                <a:latin typeface="Calibri"/>
              </a:rPr>
              <a:t>Antes de la venta existe la estación de RECEPCIÓN (ingreso de mercadería del proveedor por escaneo).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6E80"/>
                </a:solidFill>
                <a:latin typeface="Calibri"/>
              </a:rPr>
              <a:t>Hoy se hace solo por ajuste manual; la estación completa es la Fase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Flujo de abastecimiento (recepción)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Interno, invisible al cliente. Hoy inexistente como estación formal — es la Fase 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615184" cy="173736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606040"/>
            <a:ext cx="502920" cy="502920"/>
          </a:xfrm>
          <a:prstGeom prst="ellipse">
            <a:avLst/>
          </a:prstGeom>
          <a:solidFill>
            <a:srgbClr val="7A1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Proveedor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118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entrega mercadería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880360"/>
            <a:ext cx="274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7A1B73"/>
                </a:solidFill>
                <a:latin typeface="Trebuchet M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377440"/>
            <a:ext cx="2615184" cy="173736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606040"/>
            <a:ext cx="502920" cy="502920"/>
          </a:xfrm>
          <a:prstGeom prst="ellipse">
            <a:avLst/>
          </a:prstGeom>
          <a:solidFill>
            <a:srgbClr val="7A1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461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Recepción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118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escaneo: cantidad, lote, vencimiento, costo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880360"/>
            <a:ext cx="274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7A1B73"/>
                </a:solidFill>
                <a:latin typeface="Trebuchet M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3" y="2377440"/>
            <a:ext cx="2615184" cy="173736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65391" y="2606040"/>
            <a:ext cx="502920" cy="502920"/>
          </a:xfrm>
          <a:prstGeom prst="ellipse">
            <a:avLst/>
          </a:prstGeom>
          <a:solidFill>
            <a:srgbClr val="7A1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1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1" y="32461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QC / Cuarentena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1" y="36118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inspección antes de liberar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880360"/>
            <a:ext cx="274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2200" b="1" i="0">
                <a:solidFill>
                  <a:srgbClr val="7A1B73"/>
                </a:solidFill>
                <a:latin typeface="Trebuchet M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5" y="2377440"/>
            <a:ext cx="2615184" cy="173736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73184" y="2606040"/>
            <a:ext cx="502920" cy="502920"/>
          </a:xfrm>
          <a:prstGeom prst="ellipse">
            <a:avLst/>
          </a:prstGeom>
          <a:solidFill>
            <a:srgbClr val="7A1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2606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324612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Stock disponible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3611880"/>
            <a:ext cx="2212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se refleja en Inventario y Kardex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Transparencia: lo que ve 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Timeline en su app + notificación en cada cambio de estación.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1993392" cy="86868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8105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A1022"/>
                </a:solidFill>
                <a:latin typeface="Calibri"/>
              </a:rPr>
              <a:t>Esperando pago</a:t>
            </a:r>
          </a:p>
        </p:txBody>
      </p:sp>
      <p:sp>
        <p:nvSpPr>
          <p:cNvPr id="7" name="Oval 6"/>
          <p:cNvSpPr/>
          <p:nvPr/>
        </p:nvSpPr>
        <p:spPr>
          <a:xfrm>
            <a:off x="1463039" y="2514600"/>
            <a:ext cx="164592" cy="16459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2032" y="3337560"/>
            <a:ext cx="274319" cy="36576"/>
          </a:xfrm>
          <a:prstGeom prst="rect">
            <a:avLst/>
          </a:prstGeom>
          <a:solidFill>
            <a:srgbClr val="EC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16352" y="2926080"/>
            <a:ext cx="1993392" cy="86868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2926080"/>
            <a:ext cx="18105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A1022"/>
                </a:solidFill>
                <a:latin typeface="Calibri"/>
              </a:rPr>
              <a:t>Pago confirmado</a:t>
            </a:r>
          </a:p>
        </p:txBody>
      </p:sp>
      <p:sp>
        <p:nvSpPr>
          <p:cNvPr id="11" name="Oval 10"/>
          <p:cNvSpPr/>
          <p:nvPr/>
        </p:nvSpPr>
        <p:spPr>
          <a:xfrm>
            <a:off x="3730752" y="2514600"/>
            <a:ext cx="164592" cy="16459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9744" y="3337560"/>
            <a:ext cx="274319" cy="36576"/>
          </a:xfrm>
          <a:prstGeom prst="rect">
            <a:avLst/>
          </a:prstGeom>
          <a:solidFill>
            <a:srgbClr val="EC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4064" y="2926080"/>
            <a:ext cx="1993392" cy="86868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3" y="2926080"/>
            <a:ext cx="18105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A1022"/>
                </a:solidFill>
                <a:latin typeface="Calibri"/>
              </a:rPr>
              <a:t>En preparación</a:t>
            </a:r>
          </a:p>
        </p:txBody>
      </p:sp>
      <p:sp>
        <p:nvSpPr>
          <p:cNvPr id="15" name="Oval 14"/>
          <p:cNvSpPr/>
          <p:nvPr/>
        </p:nvSpPr>
        <p:spPr>
          <a:xfrm>
            <a:off x="5998464" y="2514600"/>
            <a:ext cx="164592" cy="16459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77456" y="3337560"/>
            <a:ext cx="274319" cy="36576"/>
          </a:xfrm>
          <a:prstGeom prst="rect">
            <a:avLst/>
          </a:prstGeom>
          <a:solidFill>
            <a:srgbClr val="EC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51775" y="2926080"/>
            <a:ext cx="1993392" cy="868680"/>
          </a:xfrm>
          <a:prstGeom prst="roundRect">
            <a:avLst>
              <a:gd name="adj" fmla="val 9000"/>
            </a:avLst>
          </a:prstGeom>
          <a:solidFill>
            <a:srgbClr val="FCE7F3"/>
          </a:solidFill>
          <a:ln w="1905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5" y="2926080"/>
            <a:ext cx="18105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B5006A"/>
                </a:solidFill>
                <a:latin typeface="Calibri"/>
              </a:rPr>
              <a:t>¡Listo para retiro!</a:t>
            </a:r>
          </a:p>
        </p:txBody>
      </p:sp>
      <p:sp>
        <p:nvSpPr>
          <p:cNvPr id="19" name="Oval 18"/>
          <p:cNvSpPr/>
          <p:nvPr/>
        </p:nvSpPr>
        <p:spPr>
          <a:xfrm>
            <a:off x="8266175" y="2514600"/>
            <a:ext cx="164592" cy="164592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45167" y="3337560"/>
            <a:ext cx="274319" cy="36576"/>
          </a:xfrm>
          <a:prstGeom prst="rect">
            <a:avLst/>
          </a:prstGeom>
          <a:solidFill>
            <a:srgbClr val="EC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19488" y="2926080"/>
            <a:ext cx="1993392" cy="86868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2926080"/>
            <a:ext cx="181051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A1022"/>
                </a:solidFill>
                <a:latin typeface="Calibri"/>
              </a:rPr>
              <a:t>Entregado</a:t>
            </a:r>
          </a:p>
        </p:txBody>
      </p:sp>
      <p:sp>
        <p:nvSpPr>
          <p:cNvPr id="23" name="Oval 22"/>
          <p:cNvSpPr/>
          <p:nvPr/>
        </p:nvSpPr>
        <p:spPr>
          <a:xfrm>
            <a:off x="10533888" y="2514600"/>
            <a:ext cx="164592" cy="164592"/>
          </a:xfrm>
          <a:prstGeom prst="ellipse">
            <a:avLst/>
          </a:prstGeom>
          <a:solidFill>
            <a:srgbClr val="EC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1">
                <a:solidFill>
                  <a:srgbClr val="8A6E80"/>
                </a:solidFill>
                <a:latin typeface="Calibri"/>
              </a:rPr>
              <a:t>El aviso de mayor valor — “¡Listo para retiro!” — incluye código/QR, dirección de la bodega y horario.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✓  Logrado en esta etapa  ·  Fases 0 y 1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45920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645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Login por usuario en el WMS — se eliminó el token admin compartido.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395727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39572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5000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4 roles operativos con permisos finos; cada acción queda atribuida a la persona real.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145535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314553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99815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El estado de cada pedido se valida por rol (operario prepara, cajero entrega).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95344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8953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49624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El panel filtra menús y datos según el rol (mínimo privilegio).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645151"/>
            <a:ext cx="310896" cy="310896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464515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99431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Nueva vista gráfica de inventario para el gerente.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737360"/>
            <a:ext cx="2194560" cy="2194560"/>
          </a:xfrm>
          <a:prstGeom prst="roundRect">
            <a:avLst>
              <a:gd name="adj" fmla="val 9000"/>
            </a:avLst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96596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5000" b="1" i="0">
                <a:solidFill>
                  <a:srgbClr val="FFFFFF"/>
                </a:solidFill>
                <a:latin typeface="Trebuchet MS"/>
              </a:rPr>
              <a:t>7/7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9718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pruebas de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permisos 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Roadmap a operación profesional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Fases 0 y 1 completadas. El resto, en orden de impacto.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127248"/>
            <a:ext cx="10149840" cy="45720"/>
          </a:xfrm>
          <a:prstGeom prst="rect">
            <a:avLst/>
          </a:prstGeom>
          <a:solidFill>
            <a:srgbClr val="EC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743200"/>
            <a:ext cx="822960" cy="8229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F0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370332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A1022"/>
                </a:solidFill>
                <a:latin typeface="Calibri"/>
              </a:rPr>
              <a:t>Login en el WMS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000" b="1" i="0">
                <a:solidFill>
                  <a:srgbClr val="16A34A"/>
                </a:solidFill>
                <a:latin typeface="Trebuchet MS"/>
              </a:rPr>
              <a:t>HECHO</a:t>
            </a:r>
          </a:p>
        </p:txBody>
      </p:sp>
      <p:sp>
        <p:nvSpPr>
          <p:cNvPr id="10" name="Oval 9"/>
          <p:cNvSpPr/>
          <p:nvPr/>
        </p:nvSpPr>
        <p:spPr>
          <a:xfrm>
            <a:off x="2697480" y="2743200"/>
            <a:ext cx="822960" cy="8229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7432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1" i="0">
                <a:solidFill>
                  <a:srgbClr val="FFFFFF"/>
                </a:solidFill>
                <a:latin typeface="Trebuchet MS"/>
              </a:rPr>
              <a:t>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70332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A1022"/>
                </a:solidFill>
                <a:latin typeface="Calibri"/>
              </a:rPr>
              <a:t>Roles y permisos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286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000" b="1" i="0">
                <a:solidFill>
                  <a:srgbClr val="16A34A"/>
                </a:solidFill>
                <a:latin typeface="Trebuchet MS"/>
              </a:rPr>
              <a:t>HECHO</a:t>
            </a:r>
          </a:p>
        </p:txBody>
      </p:sp>
      <p:sp>
        <p:nvSpPr>
          <p:cNvPr id="14" name="Oval 13"/>
          <p:cNvSpPr/>
          <p:nvPr/>
        </p:nvSpPr>
        <p:spPr>
          <a:xfrm>
            <a:off x="4526280" y="274320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7432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1" i="0">
                <a:solidFill>
                  <a:srgbClr val="E6007E"/>
                </a:solidFill>
                <a:latin typeface="Trebuchet MS"/>
              </a:rPr>
              <a:t>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0332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Estaciones + picking verificado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4320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1" i="0">
                <a:solidFill>
                  <a:srgbClr val="E6007E"/>
                </a:solidFill>
                <a:latin typeface="Trebuchet MS"/>
              </a:rPr>
              <a:t>F3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0332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Panel gerente (Kanban) + código de retiro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274320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7432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1" i="0">
                <a:solidFill>
                  <a:srgbClr val="E6007E"/>
                </a:solidFill>
                <a:latin typeface="Trebuchet MS"/>
              </a:rPr>
              <a:t>F4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70332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Notificaciones por estación + SLA</a:t>
            </a:r>
          </a:p>
        </p:txBody>
      </p:sp>
      <p:sp>
        <p:nvSpPr>
          <p:cNvPr id="23" name="Oval 22"/>
          <p:cNvSpPr/>
          <p:nvPr/>
        </p:nvSpPr>
        <p:spPr>
          <a:xfrm>
            <a:off x="10012680" y="274320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0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7432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1" i="0">
                <a:solidFill>
                  <a:srgbClr val="E6007E"/>
                </a:solidFill>
                <a:latin typeface="Trebuchet MS"/>
              </a:rPr>
              <a:t>F5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1645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Recepción / Inbound profesional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Nuevo: panorama gráfico del inventario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 i="0">
                <a:solidFill>
                  <a:srgbClr val="8A6E80"/>
                </a:solidFill>
                <a:latin typeface="Calibri"/>
              </a:rPr>
              <a:t>El gerente ve de un vistazo qué hay en bodega (datos reales del catálogo).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7040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828800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938528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3957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SKUs activos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907791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30175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9.477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4747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Unidades en bodega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986783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096511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$9,98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5537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Valor de venta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5065776"/>
            <a:ext cx="365760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5175504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E6007E"/>
                </a:solidFill>
                <a:latin typeface="Trebuchet M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63270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A6E80"/>
                </a:solidFill>
                <a:latin typeface="Calibri"/>
              </a:rPr>
              <a:t>Stock crítico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Beneficios para el negocio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29584" cy="18288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212140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2103120"/>
            <a:ext cx="252374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Trazabilidad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8892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Quién hizo qué, cuándo — en pedidos e inventario.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28800"/>
            <a:ext cx="3529584" cy="18288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26864" y="212140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2103120"/>
            <a:ext cx="252374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78892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Mínimo privilegio: cada rol solo accede a lo suyo.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828800"/>
            <a:ext cx="3529584" cy="18288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30768" y="212140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2103120"/>
            <a:ext cx="252374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Control del gerente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788920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Estado de cada pedido y panorama de stock en vivo.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3529584" cy="18288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427024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19" y="4251959"/>
            <a:ext cx="252374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Transparencia al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937759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Sabe en todo momento cómo va su pedido.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3977639"/>
            <a:ext cx="3529584" cy="18288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26864" y="427024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1224" y="4251959"/>
            <a:ext cx="252374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Base para escalar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4937759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Cimiento para recepción, lotes y crecimiento.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3977639"/>
            <a:ext cx="3529584" cy="18288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0768" y="4270248"/>
            <a:ext cx="457200" cy="457200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5128" y="4251959"/>
            <a:ext cx="252374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2A1022"/>
                </a:solidFill>
                <a:latin typeface="Trebuchet MS"/>
              </a:rPr>
              <a:t>Menos errores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937759"/>
            <a:ext cx="29809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6E80"/>
                </a:solidFill>
                <a:latin typeface="Calibri"/>
              </a:rPr>
              <a:t>Picking por escaneo y validación de entrega.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2A1022"/>
                </a:solidFill>
                <a:latin typeface="Trebuchet MS"/>
              </a:rPr>
              <a:t>Próximos pasos y decisiones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28016" cy="9144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B5006A"/>
                </a:solidFill>
                <a:latin typeface="Trebuchet MS"/>
              </a:rPr>
              <a:t>Cerrar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56816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A1022"/>
                </a:solidFill>
                <a:latin typeface="Calibri"/>
              </a:rPr>
              <a:t>Alta de usuarios desde el panel (hoy se crean por script).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07791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07791"/>
            <a:ext cx="128016" cy="9144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B5006A"/>
                </a:solidFill>
                <a:latin typeface="Trebuchet MS"/>
              </a:rPr>
              <a:t>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035808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A1022"/>
                </a:solidFill>
                <a:latin typeface="Calibri"/>
              </a:rPr>
              <a:t>Estaciones + picking verificado en servidor (avance por línea, asignación).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86783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86783"/>
            <a:ext cx="128016" cy="9144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79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B5006A"/>
                </a:solidFill>
                <a:latin typeface="Trebuchet MS"/>
              </a:rPr>
              <a:t>Despliegue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114799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A1022"/>
                </a:solidFill>
                <a:latin typeface="Calibri"/>
              </a:rPr>
              <a:t>Demo online gratis (link compartible, pagos en prueba) o producción real.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6577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7EEF4"/>
          </a:solidFill>
          <a:ln w="12700">
            <a:solidFill>
              <a:srgbClr val="EC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65776"/>
            <a:ext cx="128016" cy="9144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B5006A"/>
                </a:solidFill>
                <a:latin typeface="Trebuchet MS"/>
              </a:rPr>
              <a:t>Para cobrar de verdad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19379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A1022"/>
                </a:solidFill>
                <a:latin typeface="Calibri"/>
              </a:rPr>
              <a:t>Webpay producción (convenio Transbank) + boleta SII real + dominio.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0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Bodega 12</a:t>
            </a: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de tienda funcional a operación profesional.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754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0" i="0">
                <a:solidFill>
                  <a:srgbClr val="FF3DA6"/>
                </a:solidFill>
                <a:latin typeface="Calibri"/>
              </a:rPr>
              <a:t>Auditoría, diseño y ejecución — Junio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